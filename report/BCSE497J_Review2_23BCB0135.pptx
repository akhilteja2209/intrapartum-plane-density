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4" r:id="rId9"/>
    <p:sldId id="265" r:id="rId10"/>
    <p:sldId id="266" r:id="rId11"/>
    <p:sldId id="267" r:id="rId12"/>
    <p:sldId id="268" r:id="rId13"/>
    <p:sldId id="26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45" d="100"/>
          <a:sy n="45" d="100"/>
        </p:scale>
        <p:origin x="1025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58E2E1-8886-43B2-B986-F2B06DAA2FAC}" type="datetimeFigureOut">
              <a:rPr lang="en-IN" smtClean="0"/>
              <a:t>22-08-2026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59FDF3-42B5-4A41-B75E-186C389084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9858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592BF-19BE-9BF0-E2FC-07A36D054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3AB4F9-CBB3-B18D-E917-C3B0641867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0F18A0-E201-1900-A139-E830DD3EA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3E78AE-7F97-4550-9DD8-BF69171FDC30}" type="datetime1">
              <a:rPr lang="en-IN" smtClean="0"/>
              <a:t>22-08-2026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0906B9-B1F6-B52E-2EE0-7595B1EB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13AE1-F96E-D540-8DE1-8D903DB30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5197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2F7EA-3EC9-99AF-13A9-22A3F8B2D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1419B-73DB-15DA-D2EE-0FC01B435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80259-8D20-E29B-4DC5-312C3DB01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22-08-2026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01830E-3502-194A-88FA-DC3E0F1B3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6703C-229C-43C6-0484-38EC263AD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3990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CE344-6494-09A6-A5E4-811EEE0CD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51A0E2-2B9B-B96E-A3FD-0B26BDDBEB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7CE67-8E8A-4D0D-42DF-DDC842B1B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2BD8-A2C4-424B-809A-C64DDCC305D9}" type="datetime1">
              <a:rPr lang="en-IN" smtClean="0"/>
              <a:t>22-08-2026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A78C3E-C139-1FD1-979B-D71679959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2F297-889B-B694-6DD5-92F8A6AA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814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2C89C-FEA2-11F6-7988-ADD14A7B2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5DE7B-A406-1142-36EA-1C14987402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355A2B-361E-86CB-ABBE-C510D2B22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DA5E84-A1E0-A1C4-F7E6-DA9E7B124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0F4BC-B3A4-46AF-9AEC-8478EF1369D5}" type="datetime1">
              <a:rPr lang="en-IN" smtClean="0"/>
              <a:t>22-08-2026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DDA460-54C8-F2AC-C053-53FF3FAFC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6F132A-BD40-58D2-CEEC-A1BA2B9E2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8223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823BE-2514-8722-ED45-41E13E46B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BFEE3B-6ABA-1D24-97FE-717EBBC99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653C42-4C6D-988F-42A0-8639A508A6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B662B4-F942-A78F-394F-74F6037179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445FBE-A81E-92E1-36E3-99D1586F83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D20C02-77C2-CB2A-62F8-60B8C6262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A2993-B405-4F4D-B968-A01C27211659}" type="datetime1">
              <a:rPr lang="en-IN" smtClean="0"/>
              <a:t>22-08-2026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033241-EB08-777E-F678-5D641F649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D711ED-181F-C690-A3B3-1D82670FC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9272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468B4-E355-69B3-7598-80ADF2F9C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F1AB3B-AFC6-3627-62E6-22313061F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8C8C-5FBB-4DD7-A06D-BE263480794B}" type="datetime1">
              <a:rPr lang="en-IN" smtClean="0"/>
              <a:t>22-08-2026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2C6591-48E4-480E-7965-DE9F83015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C9D68-A16A-B2D3-C8A6-B5221AF7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5061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3F289A-3AD7-C11D-1594-90A35E592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2985-06EC-459B-80C8-F6F4362A1C03}" type="datetime1">
              <a:rPr lang="en-IN" smtClean="0"/>
              <a:t>22-08-2026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252269-BBE3-199F-299B-38D4E9CC1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07FDC-B2A9-1304-047F-5808A0B6B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7265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A4847-FC20-D9BF-0BDE-26EC7EF74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D9C584-AC19-D7B4-9DFE-7C1BC2E1B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4A3262-CE8D-2419-DCCC-C536E9FDAC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4758D6-7AF2-29C5-E0EE-3B7BE155E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7E9DA-13C6-48A4-9305-B592482DE8CE}" type="datetime1">
              <a:rPr lang="en-IN" smtClean="0"/>
              <a:t>22-08-2026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AAC7E7-68C4-7616-2DE1-0333E2C44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9EF51B-1685-66FF-0783-23584C2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6387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39D0E-3A71-7252-C837-B8281F0DE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E3D557-6893-299F-57A8-A7B173F101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CC8BA2-BB08-F4E3-5660-C7370BA568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57E1CE-C7CA-966D-8661-1E99A7DA2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E7C4B-C575-4DCF-9B63-045662930500}" type="datetime1">
              <a:rPr lang="en-IN" smtClean="0"/>
              <a:t>22-08-2026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055516-3E64-07E5-10C5-DE056657E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BA5AD5-9867-E76D-C035-2856CCFBC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00179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1D7EC-16EA-5009-5D33-ABFC55F28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09EC6D-8ED5-29E9-9444-CC2D6A1CB8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ADFC6-7CEA-ABEE-94C2-870B1E657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931C-EA1A-43DD-B3B3-66F5BA587712}" type="datetime1">
              <a:rPr lang="en-IN" smtClean="0"/>
              <a:t>22-08-2026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1FA3A5-596E-6C2A-F853-30C5DC6FB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CE6B1-CE87-B68F-9494-FA6D109F3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80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0FF105-FC99-2BCB-131F-2B902F8BAE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354FD6-064F-6E12-E8DE-81EC913CDB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1D2109-32D1-4A0F-F903-5142A204E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9B0E1-7C95-4C20-B9C6-BA51F388E878}" type="datetime1">
              <a:rPr lang="en-IN" smtClean="0"/>
              <a:t>22-08-2026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E5353D-EEF9-CF3C-A97F-F0F0EBFA7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F2F1DC-3958-BCDE-9A16-88E928E7E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33540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454249-E28B-CF91-F4A6-9762E4F38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E3D641-7C66-CA7D-30A7-7F95AC27EF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1D408-B228-838E-3E43-4304680A53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827C3E-786B-4150-9177-1C28966A2ADC}" type="datetime1">
              <a:rPr lang="en-IN" smtClean="0"/>
              <a:t>22-08-2026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EC7A69-1922-F157-900C-FF9566831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B80E76-E345-1553-9664-0BCF569B55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184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E9E27CD-EF84-CB3A-3D07-A31523568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7236" y="-11493"/>
            <a:ext cx="4517528" cy="187163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8BAD67C4-20B4-E1F6-A7E7-C8C33181D0C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907459" y="1934141"/>
            <a:ext cx="8924544" cy="108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000" b="1" dirty="0"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B.Tech. - BCSE497J Project-I</a:t>
            </a:r>
            <a:br>
              <a:rPr lang="en-IN" sz="2000" b="1" dirty="0"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</a:p>
          <a:p>
            <a:pPr algn="ctr"/>
            <a:r>
              <a:rPr lang="en-IN" sz="2000" b="1" dirty="0"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Learning-Based Classification of Standard and Non-Standard Intrapartum Ultrasound Images</a:t>
            </a:r>
            <a:br>
              <a:rPr lang="en-IN" sz="2000" b="1" dirty="0"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</a:p>
        </p:txBody>
      </p:sp>
      <p:sp>
        <p:nvSpPr>
          <p:cNvPr id="9" name="object 3">
            <a:extLst>
              <a:ext uri="{FF2B5EF4-FFF2-40B4-BE49-F238E27FC236}">
                <a16:creationId xmlns:a16="http://schemas.microsoft.com/office/drawing/2014/main" id="{68BC382C-506F-4908-6AC3-C0AA73064F47}"/>
              </a:ext>
            </a:extLst>
          </p:cNvPr>
          <p:cNvSpPr txBox="1"/>
          <p:nvPr/>
        </p:nvSpPr>
        <p:spPr>
          <a:xfrm>
            <a:off x="2609088" y="3208471"/>
            <a:ext cx="7071360" cy="24608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r>
              <a:t>Team member:</a:t>
            </a:r>
            <a:endParaRPr sz="18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t>Morisetty Venkata Sai Akhil Teja          (23BCB0135)</a:t>
            </a:r>
            <a:endParaRPr sz="18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t/>
            </a:r>
            <a:endParaRPr sz="18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t>Faculty guide:</a:t>
            </a:r>
            <a:endParaRPr sz="18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t>Dr. Mythili. T</a:t>
            </a:r>
            <a:endParaRPr sz="18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t>Professor Grade 2</a:t>
            </a:r>
            <a:endParaRPr sz="18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t>School of Computer Science and Engineering</a:t>
            </a:r>
            <a:endParaRPr sz="18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43036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CBE13-A9D6-9564-DA47-597E38E0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Approval Mail From Guide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33367C-DAD6-6E34-D21A-A981C0944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i="1" dirty="0">
                <a:highlight>
                  <a:srgbClr val="FFFF00"/>
                </a:highlight>
              </a:rPr>
              <a:t>Get the approval for the following points from your guide through mail before  01-09-2026.(sample attached below)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27C50-3ED3-2DB6-C227-6784C6CA9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4170-792F-28F8-1C31-5F7A8D69F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16528B-72DB-0275-6A94-33ABB5CD7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2</a:t>
            </a:fld>
            <a:endParaRPr lang="en-I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FF88D1-7A15-E122-39FA-9C7DA1DFCD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66" y="2653482"/>
            <a:ext cx="11381493" cy="3296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560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8A428-04DA-E6A8-7606-5D2FE5F31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build a deep learning classifier that decides whether an intrapartum transperineal ultrasound frame is a standard plane, i.e. whether the pubic symphysis and fetal head are resolved well enough to measure the angle of progression.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use that classifier to settle a methodological question the literature leaves open: does frame sampling density itself improve performance, or is the reported advantage of video data simply the effect of having more training samples?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027305EA-516C-11F8-8A54-2BA046094A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9E6AA7-AE20-8A91-BA42-261BF76A2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6562-4E3F-4038-A291-A7AE35CC3E6A}" type="datetime1">
              <a:rPr lang="en-IN" smtClean="0"/>
              <a:t>22-08-2026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7FE434-77F0-B8BE-9198-66090332F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D6A9DA-AEE9-F6FE-EFA8-06396314F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3518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D95E8-8D7C-F548-8B75-23C3B2B15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DED8F-1EBD-2E10-598E-0CA3F56F0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Standard-plane selection during labour is manual, operator-dependent and performed under time pressure.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Prior work reports that dense video frames beat curated images, but changes the corpus and the sample count together, so the cause is unidentifiable.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Both arms are built from one corpus (IUGC 2024, 774 videos, 65,531 frames), varying only frames drawn per video, so probe, anatomy, scanner and annotator are constant by construction.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ResNet-18 trained under 13 sampling conditions; ResNet-18 + BiLSTM for the temporal arm; all scored on the same 8,665-frame official test set.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Result: no density effect. The best single model used 434 training frames. Across three seeds the matched-budget comparison reverses sign, so seed variance exceeds the effect.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156C6ACB-BF9E-DB99-B99C-4896C6527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3D067F-DF0A-3BD2-0B9E-C22E39B7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61D5D-2F82-4210-B67C-C3AADE7FED47}" type="datetime1">
              <a:rPr lang="en-IN" smtClean="0"/>
              <a:t>22-08-2026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EFD8C3-C2D0-4BBB-7FD8-43FE2C084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9991A-41D4-F0AB-EF39-ACE70C81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3097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0AE58-8206-476A-BECC-A1ADC0EA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435FB437-6170-6BA2-1A38-A902855A3E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8056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B6993A-B8FB-1E92-71D4-98155A7ED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858" y="4611603"/>
            <a:ext cx="4017612" cy="487722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13BC6E0-D294-E70D-8B27-13FBFEE5E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9193B-09C0-4C85-858C-650926A9B146}" type="datetime1">
              <a:rPr lang="en-IN" smtClean="0"/>
              <a:t>22-08-2026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F284BA2-3334-3EC1-0E81-4C9095897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A8F14EB-D02F-8EDE-87F4-A3F7E8D20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5</a:t>
            </a:fld>
            <a:endParaRPr lang="en-IN"/>
          </a:p>
        </p:txBody>
      </p:sp>
      <p:pic>
        <p:nvPicPr>
          <p:cNvPr id="11" name="Picture 10" descr="fig5_litre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4078" y="1374470"/>
            <a:ext cx="9110147" cy="2103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4497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64C5E-26B3-2EE9-895A-F822E4C49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7F8AC8-6380-9217-CA4C-1FBF1C25C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Gap 1 - Sampling density is never isolated from sample count. No prior work reports a budget-matched comparison where both arms receive the same number of training frames.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Gap 2 - Temporal models are compared against unsmoothed baselines. Standard planes occur in contiguous runs, so a zero-parameter moving average already recovers much of that structure.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Gap 3 - Run-to-run variance is not reported. On corpora of a few hundred patients, results come from a single training run; if seed variance is comparable to the effect, the comparison cannot support its conclusion.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2E07AC55-BA5E-4123-39E6-B79860C6C9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430A72-466B-CBDE-2F02-635BA91A9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E986A-8308-4C4E-A0F3-DDD9B5B25762}" type="datetime1">
              <a:rPr lang="en-IN" smtClean="0"/>
              <a:t>22-08-2026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11DDA3-7A7C-1F61-1795-3A01ED678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E3226-1DB1-3A4D-CE37-4A2AD48EF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3102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50AAC-0156-D6F5-7153-C79199994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3ADE1-559A-2DC2-A801-6A915E106C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 a verified frame-level dataset from IUGC 2024 (label join rate 1.0, integrity checks as assertions).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 and evaluate a ResNet-18 standard-plane classifier on the official held-out test split.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Quantify sampling density over 13 conditions, and separate density from sample count with budget- and prior-matched arms.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temporal modelling against a smoothed frame-wise baseline, not an unsmoothed one.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 seed-to-seed variance; deploy the classifier as a verified browser demonstrator.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22BADD22-870A-4D8F-B788-CCCD5C223F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E4F0EB-E8F1-14D8-E22A-38E83F9BF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22-08-2026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8B93F-BA73-08B5-E0DD-D434FA25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BABF72-E9F9-626A-63CD-EA20C0714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632EBB-2D05-8D00-7F98-43CBAFAF06ED}"/>
              </a:ext>
            </a:extLst>
          </p:cNvPr>
          <p:cNvSpPr txBox="1"/>
          <p:nvPr/>
        </p:nvSpPr>
        <p:spPr>
          <a:xfrm>
            <a:off x="460248" y="4413148"/>
            <a:ext cx="1152340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Identified:   Sustainable Development Goal 3 - Good Health and Well-being                    Outcomes: Conference (Scopus) / Product (open-source classifier and browser demonstrator)</a:t>
            </a:r>
          </a:p>
        </p:txBody>
      </p:sp>
      <p:pic>
        <p:nvPicPr>
          <p:cNvPr id="8" name="Picture 7" descr="3 The UN 17 Sustainable Development Goals (SDGs), implemented by all... | Download Scientific Diagram">
            <a:extLst>
              <a:ext uri="{FF2B5EF4-FFF2-40B4-BE49-F238E27FC236}">
                <a16:creationId xmlns:a16="http://schemas.microsoft.com/office/drawing/2014/main" id="{36180A9B-AA72-E2D6-8362-4CDF7058D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701" y="4778273"/>
            <a:ext cx="1968651" cy="1578077"/>
          </a:xfrm>
          <a:prstGeom prst="rect">
            <a:avLst/>
          </a:prstGeom>
        </p:spPr>
      </p:pic>
      <p:pic>
        <p:nvPicPr>
          <p:cNvPr id="9" name="Picture 8" descr="What are Technology Readiness Levels (TRL)? - TWI">
            <a:extLst>
              <a:ext uri="{FF2B5EF4-FFF2-40B4-BE49-F238E27FC236}">
                <a16:creationId xmlns:a16="http://schemas.microsoft.com/office/drawing/2014/main" id="{D1491C9C-07B3-89C3-5FA0-72C9F44F3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7545" y="4413148"/>
            <a:ext cx="2447027" cy="2232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624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Framework/Architecture/Block Diagram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22-08-2026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fig2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935" y="1825625"/>
            <a:ext cx="6440130" cy="4297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95AF1-B807-AC15-9C1A-B86677AF6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324FF-B70A-2FC0-8FD0-C802E31DDB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 extraction - decode each video once to pre-resized frames through a Unicode-safe write path.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Label parsing - handle per-video index lists and the ALL / NONE whole-video sentinels; fail loudly, never silently.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Index construction - one frame-level index; refuse to write it if the label join rate is below 1.0.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Video-level splitting - partition by video, never by frame; assert no video appears in two splits.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 conditions - build a training set for any k per video, stride, frame budget or target class prior.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and evaluation - one trainer for both arms; report macro-F1, balanced accuracy, AUPRC and MCC with video-level bootstrap intervals.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Inference - return the standard-plane probability and the decision at the frozen threshold for a submitted frame.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0C9A0194-5820-F292-3A94-449C000E51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F25267-3005-EC45-A624-B78484DFA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22-08-2026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022FF-AD0C-E15E-5F17-B2827B554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D6198-8B2C-26FB-53D2-A5B87C95A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1299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2F2ED-50F9-3DFA-95BB-1A1059C5D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F2560-A5FE-A724-8F39-E7E901E8F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preparation - extract_frames, build_index: decoding, sentinel-aware label parsing, integrity assertions.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Splitting - splits: video-level official split, leakage assertions, label-transition diagnostics.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 - sampling: k-per-video, stride, budget matching, prior matching. This module is the study's independent variable.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Datasets - datasets: frame and clip views, ultrasound-specific augmentation, transition splicing for the temporal arm.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 - models: one shared ResNet-18 encoder, two heads (frame-wise and BiLSTM).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and evaluation - engine, metrics, smoothing: shared trainer, imbalance-aware metrics, post-hoc smoothing baseline.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Deployment - export_onnx and a static page running onnxruntime-web for local, in-browser inference.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B27DA514-48FC-4BF4-8205-DE21D456C5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4A04E0-6631-130F-A154-C85D978EA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22-08-2026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615995-EDEB-C984-B852-1229C23B1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F5109-389C-3E37-E553-A559233EF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98703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556E8-0003-02C5-D37D-A5CC4CE44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67973-736B-B05D-D378-DA7CBE3EB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Arm 1, 13 conditions, seed 0: sparse arm 0.588-0.687 macro-F1 over 434 to 8,638 frames; dense arm 0.506-0.637 over 6,840 to 53,996 frames. No trend in either. Best result: 434 frames.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Arm 2, same dense condition: frame-wise 0.5785 raw, 0.5453 smoothed; BiLSTM 0.6695 with splicing, 0.6496 without. The temporal arm wins, but the ablation shows splicing is not why.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Three seeds: budget-matched delta -0.106 / +0.013 / -0.093; prior-matched -0.168 / +0.121 / -0.045. Both reverse sign; both standard deviations exceed their means.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 condition varies by 0.231 macro-F1 across seeds on identical data with an identical recipe.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Post-hoc smoothing hurt in 12 of 13 conditions: it is tuned on validation, where runs are long (median 33 frames), and applied to test, where they are short (median 12).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22-08-2026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188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49A39-F362-DB35-B5DF-7E322AB9C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F33DD-84F0-A7F9-A1DC-A4DEA1A7D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 sampling density produced no measurable benefit on this corpus. The strongest single model was trained on 434 frames, one per video, against 53,996 for the dense arm.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matched-budget result does not replicate across seeds, so Protocol B is unresolved rather than answered.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principal finding is a measurement one: at 434 training videos with this train-test shift, seed variance reaches about +/-0.12 macro-F1, exceeding any density effect. Single-run comparisons at this scale cannot support conclusions about density - and that is what prior work reports.</a:t>
            </a:r>
          </a:p>
          <a:p>
            <a:pPr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Remaining work: Grad-CAM anatomical attention check, leave-one-centre-out split, paired video bootstrap, and AoP/HSD downstream error using the corpus landmark annotations.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3754A46F-4AC3-5AF1-0B78-C0B5112BD1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1BAA61-633E-E24B-7DEE-4B2A2B1FA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22-08-2026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3C553-2D0C-5A0A-39DC-21C43BD88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F7A7E9-45BE-62F4-D3A6-F19DC6ABE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74987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E1A0-FA4A-8258-6E10-9F00EDC0B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7CFC0C65-61CC-E657-43F7-99C8E53624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CC4F09CD-956A-B8B3-1183-9C28C80DDB9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45592" y="1442399"/>
            <a:ext cx="10515600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C. F. Baumgartner et al., "SonoNet: Real-time detection and localisation of fetal standard scan planes in freehand ultrasound," IEEE Trans. Med. Imaging, vol. 36, no. 11, pp. 2204-2215, 2017.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H. Chen et al., "Standard plane localization in fetal ultrasound via domain transferred deep neural networks," IEEE J. Biomed. Health Inform., vol. 19, no. 5, pp. 1627-1636, 2015.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X. P. Burgos-Artizzu et al., "Evaluation of deep convolutional neural networks for automatic classification of common maternal fetal ultrasound planes," Sci. Rep., vol. 10, p. 10200, 2020.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[4] T. Ghi et al., "ISUOG Practice Guidelines: intrapartum ultrasound," Ultrasound Obstet. Gynecol., vol. 52, no. 1, pp. 128-139, 2018.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[5] K. He, X. Zhang, S. Ren and J. Sun, "Deep residual learning for image recognition," in Proc. IEEE CVPR, 2016, pp. 770-778.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[6] IUGC 2024 dataset, Zenodo, doi: 10.5281/zenodo.17655183, CC-BY-4.0.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32D3DB-7149-E1E5-D5F9-4FC93A788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7B6C-E68D-4047-8A1E-3C7BD2842AF7}" type="datetime1">
              <a:rPr lang="en-IN" smtClean="0"/>
              <a:t>22-08-2026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BCABB1-7C63-52E3-2815-3651AE7E9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31EAEC-BCE3-2979-69C6-273309B9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05262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273</Words>
  <Application>Microsoft Office PowerPoint</Application>
  <PresentationFormat>Widescreen</PresentationFormat>
  <Paragraphs>78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Times New Roman</vt:lpstr>
      <vt:lpstr>Office Theme</vt:lpstr>
      <vt:lpstr>&lt;&lt;Programme B.Tech/ M.Tech Course Code – Course Title&gt;&gt; &lt;&lt;Project Title&gt;&gt;</vt:lpstr>
      <vt:lpstr>Approval Mail From Guide</vt:lpstr>
      <vt:lpstr>Aim</vt:lpstr>
      <vt:lpstr>Abstract</vt:lpstr>
      <vt:lpstr>Literature Review</vt:lpstr>
      <vt:lpstr>Research Gap</vt:lpstr>
      <vt:lpstr>Objectives</vt:lpstr>
      <vt:lpstr>Framework/Architecture/Block Diagram</vt:lpstr>
      <vt:lpstr>Functional Requirements</vt:lpstr>
      <vt:lpstr>Modules</vt:lpstr>
      <vt:lpstr>Experiments and Results</vt:lpstr>
      <vt:lpstr>Conclusion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Parthasarathy G</dc:creator>
  <cp:lastModifiedBy>Parthasarathy G</cp:lastModifiedBy>
  <cp:revision>5</cp:revision>
  <dcterms:created xsi:type="dcterms:W3CDTF">2026-07-14T06:00:41Z</dcterms:created>
  <dcterms:modified xsi:type="dcterms:W3CDTF">2026-08-22T10:32:54Z</dcterms:modified>
</cp:coreProperties>
</file>